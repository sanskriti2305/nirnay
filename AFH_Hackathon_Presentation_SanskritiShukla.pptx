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CCFF"/>
    <a:srgbClr val="CCFF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1145-6564-BE81-FBB5-6542093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6F986-A4FD-DBDF-698A-529F77020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D7F97-8924-59B0-A0B3-EAFACF4CA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A95A8-8184-B0A5-E7BC-FB8DA8AC70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3069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CC6D-50A1-49D7-BBD9-F4711328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1B2BD-BA92-4CD9-99F9-3C7ABBA1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7ECFC-EC7D-4E8E-99F8-ECE492703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74C7A-F264-4F6E-8257-55F177B003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835B8-F670-478D-9FC6-8D536FBA03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604FB96-A152-47DE-BF94-7FC2A5DC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C40F-B2E2-4A57-9EDB-F2CB4A33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C4B6-E822-4A04-BA4E-FF09FE6B0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D735A-2D1C-4151-861E-06F6A7509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85F9A-4B50-4C54-8698-3C528E9287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B209D-E867-4909-A2CB-F1F46C95C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80" y="256848"/>
            <a:ext cx="1145133" cy="361341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657" y="206187"/>
            <a:ext cx="863243" cy="4120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AC8C-FF2E-4C4C-B215-5B86E26E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953D1-4E4E-4D7F-873E-B066E268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8CD9-40F6-425E-8918-DF68E870F7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1225A-CDED-48C1-A066-07749C3856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76DD-18EE-4A31-970C-4D8F4E76C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ED2A-3583-4292-9435-B0D3E7E9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7A9E-9FAD-4D08-A9E1-4BA53254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24914-DE30-453A-91BA-03D5EA9D98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24206-DD27-4A4B-B167-010C411700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C6B4C-A61E-4DB9-AB3F-9D4CB0EF3A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C791B-4177-4D99-9458-72E74ADB1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F933-4FAD-4A12-B460-64D94303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731-1E64-45A9-B43D-1A8C984CC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8E4E-2162-421A-A691-50D4C2C4C21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20755-6ADA-4C80-AF14-AC56CF22D83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266AF-4922-4536-9B04-04017B6DD4A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2ACB2-8C6C-4319-973D-7E23FABCB1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AFA0D-22C2-4791-9F7A-EA32BF3EF8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55D2B-2552-47A9-845D-578B92E9A4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D68F-65BB-4C28-B854-7F575DB2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B7F26-5CDB-41FD-9158-6121ABCEE8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C7946-5877-4F24-A67E-7F7B529E88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BC395-F2F9-4F18-BAC0-0D0A233010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5C6D8-F083-415A-8CAF-978A6C13F4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0463D-BAC2-4008-BD92-AA686F03B9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3B0C7-2F68-427B-9DDA-36211B9994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A959-0C3B-4AAD-BF60-E49A76F3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A80E-5F56-413C-8634-AFB2CBA5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C2F9C-A745-4CEA-876E-C53E8405E1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E7228-597B-4BA9-85B3-1122DA7837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2E9AB-E5AD-47BF-B77E-C4A7476183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BFDD5-954B-4C42-98A6-CBEC990323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71BA-B80C-416E-B480-2E2EF0D7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81E87-4E58-4F19-B7D0-EB9DB5093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CCDA3-B0A7-429F-AAFB-82113EE3CF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4D425-4294-4CD5-8E0F-85CEA51334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1D430-000B-4EEE-A1E0-F10AB0F9AA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7C496-AC72-4A0B-A5A8-2101B4F81A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41C5-1A88-46E4-9C83-3566062B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D4C07-AFD9-4E77-B99B-05174CB34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58FD3-911A-40C3-834D-144006D8EA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FFEFC-10F2-4AE4-B7DE-0F6B137B0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E998-6683-4F1B-9036-97ED83EA0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1A54F-14F5-4F01-8FB7-48D224E0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716F5-B13A-4614-9053-AD503891E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912A-8FC9-4AF4-97C1-8B8A3FF63D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88729-D05A-490F-B06B-F853046221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8EA07-C457-4C3F-8CEA-65BC66D2F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DA987-F5D6-4DB3-8DAC-40B6245A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A9378-FB72-47F2-A3C9-FB4C0945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365E7-A39F-4734-A384-9424884A63A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9015-8F7A-4B09-BE83-979802A9CD7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C36BC-5BFA-4A0E-A4B6-B310A7EEE5A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5874D-83D6-46FB-8AC2-1B761C2F126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yrock.aws/u/Kuromi05/SgVDia2mn/Nirnay%253A-Rural-Women-Entrepreneur-Decision-Guid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partyrock.aws/u/Kuromi05/SgVDia2mn/Nirnay%25253A-Rural-Women-Entrepreneur-Decision-Guide/snapshot/e_hLW1u-K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partyrock.aws/u/Kuromi05/SgVDia2mn/Nirnay%25253A-Rural-Women-Entrepreneur-Decision-Guide/snapshot/mYZBhbmgr" TargetMode="External"/><Relationship Id="rId4" Type="http://schemas.openxmlformats.org/officeDocument/2006/relationships/hyperlink" Target="https://partyrock.aws/u/Kuromi05/SgVDia2mn/Nirnay%25253A-Rural-Women-Entrepreneur-Decision-Guide/snapshot/nPtiYk7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verPhoto1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0" y="-3648"/>
            <a:ext cx="12192000" cy="6857999"/>
          </a:xfrm>
          <a:prstGeom prst="rect">
            <a:avLst/>
          </a:prstGeom>
          <a:effectLst>
            <a:reflection blurRad="1270000" stA="1000" endPos="65000" dist="1270000" dir="5400000" sy="-100000" algn="bl" rotWithShape="0"/>
          </a:effectLst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BA0CEDBC-E782-B868-B32E-81C3AB385E02}"/>
              </a:ext>
            </a:extLst>
          </p:cNvPr>
          <p:cNvSpPr>
            <a:spLocks noGrp="1"/>
          </p:cNvSpPr>
          <p:nvPr/>
        </p:nvSpPr>
        <p:spPr>
          <a:xfrm>
            <a:off x="8951950" y="-621792"/>
            <a:ext cx="4383439" cy="4047744"/>
          </a:xfrm>
          <a:prstGeom prst="ellipse">
            <a:avLst/>
          </a:prstGeom>
          <a:solidFill>
            <a:srgbClr val="F5F3FF">
              <a:alpha val="80000"/>
            </a:srgbClr>
          </a:solidFill>
          <a:ln w="12700">
            <a:solidFill>
              <a:srgbClr val="F5F3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CF0D803-54D3-434A-8009-5A4E5A2FF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170CE6-6071-4773-8092-04F0B3E24394}"/>
              </a:ext>
            </a:extLst>
          </p:cNvPr>
          <p:cNvSpPr>
            <a:spLocks noGrp="1"/>
          </p:cNvSpPr>
          <p:nvPr/>
        </p:nvSpPr>
        <p:spPr>
          <a:xfrm>
            <a:off x="395713" y="1747343"/>
            <a:ext cx="10363200" cy="48768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733" b="1">
                <a:latin typeface="Calibri"/>
                <a:ea typeface="Calibri"/>
                <a:cs typeface="Calibri"/>
              </a:rPr>
              <a:t>ASPIRE FOR HER  ×  LOGITECH </a:t>
            </a:r>
          </a:p>
          <a:p>
            <a:endParaRPr sz="3733" b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DF8F83-5C68-45F2-84A9-A19D1FD99EDC}"/>
              </a:ext>
            </a:extLst>
          </p:cNvPr>
          <p:cNvSpPr>
            <a:spLocks noGrp="1"/>
          </p:cNvSpPr>
          <p:nvPr/>
        </p:nvSpPr>
        <p:spPr>
          <a:xfrm>
            <a:off x="426720" y="2998652"/>
            <a:ext cx="11338560" cy="13411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67" b="1" dirty="0">
                <a:latin typeface="Calibri"/>
                <a:ea typeface="Calibri"/>
                <a:cs typeface="Calibri"/>
              </a:rPr>
              <a:t>Women Who Master — Individual GenAI Hackathon Submission</a:t>
            </a:r>
          </a:p>
          <a:p>
            <a:endParaRPr sz="2667" b="1" dirty="0">
              <a:latin typeface="Calibri"/>
              <a:ea typeface="Calibri"/>
              <a:cs typeface="Calibri"/>
            </a:endParaRPr>
          </a:p>
          <a:p>
            <a:r>
              <a:rPr sz="2667" b="1" dirty="0">
                <a:latin typeface="Calibri"/>
                <a:ea typeface="Calibri"/>
                <a:cs typeface="Calibri"/>
              </a:rPr>
              <a:t>Submitted by: </a:t>
            </a:r>
            <a:r>
              <a:rPr lang="en-US" sz="2667" b="1" dirty="0">
                <a:latin typeface="Calibri"/>
                <a:ea typeface="Calibri"/>
                <a:cs typeface="Calibri"/>
              </a:rPr>
              <a:t>Sanskriti Shukla</a:t>
            </a:r>
            <a:r>
              <a:rPr sz="2667" b="1" dirty="0">
                <a:latin typeface="Calibri"/>
                <a:ea typeface="Calibri"/>
                <a:cs typeface="Calibri"/>
              </a:rPr>
              <a:t>|  Registration/Roll number:</a:t>
            </a:r>
            <a:r>
              <a:rPr lang="en-US" sz="2667" b="1" dirty="0">
                <a:latin typeface="Calibri"/>
                <a:ea typeface="Calibri"/>
                <a:cs typeface="Calibri"/>
              </a:rPr>
              <a:t> WWM26-MUM-G-T044-M04</a:t>
            </a:r>
            <a:r>
              <a:rPr sz="2667" b="1" dirty="0">
                <a:latin typeface="Calibri"/>
                <a:ea typeface="Calibri"/>
                <a:cs typeface="Calibri"/>
              </a:rPr>
              <a:t>  |  Location:</a:t>
            </a:r>
            <a:r>
              <a:rPr lang="en-US" sz="2667" b="1" dirty="0">
                <a:latin typeface="Calibri"/>
                <a:ea typeface="Calibri"/>
                <a:cs typeface="Calibri"/>
              </a:rPr>
              <a:t> Mumbai</a:t>
            </a:r>
            <a:endParaRPr sz="2667" b="1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898F68-974D-42FD-8214-12AD49C0F595}"/>
              </a:ext>
            </a:extLst>
          </p:cNvPr>
          <p:cNvSpPr>
            <a:spLocks noGrp="1"/>
          </p:cNvSpPr>
          <p:nvPr/>
        </p:nvSpPr>
        <p:spPr>
          <a:xfrm>
            <a:off x="609600" y="3462287"/>
            <a:ext cx="10363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endParaRPr/>
          </a:p>
        </p:txBody>
      </p:sp>
      <p:pic>
        <p:nvPicPr>
          <p:cNvPr id="34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4" y="232606"/>
            <a:ext cx="1812900" cy="572052"/>
          </a:xfrm>
          <a:prstGeom prst="rect">
            <a:avLst/>
          </a:prstGeom>
        </p:spPr>
      </p:pic>
      <p:pic>
        <p:nvPicPr>
          <p:cNvPr id="35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845" y="153062"/>
            <a:ext cx="1647687" cy="7863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5C5AD80-01A3-2A2A-751F-3B54899D1F52}"/>
              </a:ext>
            </a:extLst>
          </p:cNvPr>
          <p:cNvSpPr>
            <a:spLocks noGrp="1"/>
          </p:cNvSpPr>
          <p:nvPr/>
        </p:nvSpPr>
        <p:spPr>
          <a:xfrm>
            <a:off x="395713" y="2319398"/>
            <a:ext cx="9310539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7" b="1">
                <a:latin typeface="Calibri"/>
                <a:ea typeface="Calibri"/>
                <a:cs typeface="Calibri"/>
              </a:rPr>
              <a:t> 🏆 In collaboration with AICTE &amp; applied for “Guinness Book of World Records”</a:t>
            </a:r>
          </a:p>
        </p:txBody>
      </p:sp>
    </p:spTree>
    <p:extLst>
      <p:ext uri="{BB962C8B-B14F-4D97-AF65-F5344CB8AC3E}">
        <p14:creationId xmlns:p14="http://schemas.microsoft.com/office/powerpoint/2010/main" val="225788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verPhoto1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0" y="-3648"/>
            <a:ext cx="12192000" cy="6857999"/>
          </a:xfrm>
          <a:prstGeom prst="rect">
            <a:avLst/>
          </a:prstGeom>
          <a:effectLst>
            <a:reflection blurRad="1270000" stA="1000" endPos="65000" dist="1270000" dir="5400000" sy="-100000" algn="bl" rotWithShape="0"/>
          </a:effectLst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BA0CEDBC-E782-B868-B32E-81C3AB385E02}"/>
              </a:ext>
            </a:extLst>
          </p:cNvPr>
          <p:cNvSpPr>
            <a:spLocks noGrp="1"/>
          </p:cNvSpPr>
          <p:nvPr/>
        </p:nvSpPr>
        <p:spPr>
          <a:xfrm>
            <a:off x="8951950" y="-621792"/>
            <a:ext cx="4383439" cy="4047744"/>
          </a:xfrm>
          <a:prstGeom prst="ellipse">
            <a:avLst/>
          </a:prstGeom>
          <a:solidFill>
            <a:srgbClr val="F5F3FF">
              <a:alpha val="80000"/>
            </a:srgbClr>
          </a:solidFill>
          <a:ln w="12700">
            <a:solidFill>
              <a:srgbClr val="F5F3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0503DC3-A159-4190-939E-FD5BB2B14F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0DDB96-C8B6-41B0-9117-0517EBED9B9A}"/>
              </a:ext>
            </a:extLst>
          </p:cNvPr>
          <p:cNvSpPr>
            <a:spLocks noGrp="1"/>
          </p:cNvSpPr>
          <p:nvPr/>
        </p:nvSpPr>
        <p:spPr>
          <a:xfrm>
            <a:off x="609600" y="1695607"/>
            <a:ext cx="11338560" cy="16465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400" b="1"/>
              <a:t>Before the hackathon, each participant is expected to:</a:t>
            </a:r>
          </a:p>
          <a:p>
            <a:pPr marL="28" indent="-16">
              <a:buChar char="•"/>
            </a:pPr>
            <a:r>
              <a:rPr sz="1800"/>
              <a:t>Complete the ‘Introduction to PartyRock’ prerequisite course.</a:t>
            </a:r>
          </a:p>
          <a:p>
            <a:pPr marL="28" indent="-16">
              <a:buChar char="•"/>
            </a:pPr>
            <a:r>
              <a:rPr sz="1800"/>
              <a:t>Review the recommended tutorial: https://youtu.be/rlRuKTKuhnA</a:t>
            </a:r>
          </a:p>
          <a:p>
            <a:pPr marL="28" indent="-16">
              <a:buChar char="•"/>
            </a:pPr>
            <a:r>
              <a:rPr sz="1800"/>
              <a:t>Confirm access to PartyRock, email, cloud storage and the submission portal.</a:t>
            </a:r>
          </a:p>
          <a:p>
            <a:pPr marL="28" indent="-16">
              <a:buChar char="•"/>
            </a:pPr>
            <a:r>
              <a:rPr sz="1800"/>
              <a:t>Bring a charged laptop and charger. All competitive work must be completed individually during the official four-hour window.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38B6B0-2984-41DD-BFFC-7EFAC890B41D}"/>
              </a:ext>
            </a:extLst>
          </p:cNvPr>
          <p:cNvSpPr>
            <a:spLocks noGrp="1"/>
          </p:cNvSpPr>
          <p:nvPr/>
        </p:nvSpPr>
        <p:spPr>
          <a:xfrm>
            <a:off x="609600" y="3462287"/>
            <a:ext cx="10363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endParaRPr/>
          </a:p>
        </p:txBody>
      </p:sp>
      <p:pic>
        <p:nvPicPr>
          <p:cNvPr id="32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4" y="232606"/>
            <a:ext cx="1812900" cy="572052"/>
          </a:xfrm>
          <a:prstGeom prst="rect">
            <a:avLst/>
          </a:prstGeom>
        </p:spPr>
      </p:pic>
      <p:pic>
        <p:nvPicPr>
          <p:cNvPr id="33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845" y="153062"/>
            <a:ext cx="1647687" cy="78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4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12D9-CDF4-103F-D026-4B8EFA19157B}"/>
              </a:ext>
            </a:extLst>
          </p:cNvPr>
          <p:cNvSpPr>
            <a:spLocks noGrp="1"/>
          </p:cNvSpPr>
          <p:nvPr/>
        </p:nvSpPr>
        <p:spPr>
          <a:xfrm>
            <a:off x="1434936" y="217613"/>
            <a:ext cx="3767189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Challenge Selected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90B59-D3F4-32B0-73DD-83F87AB21696}"/>
              </a:ext>
            </a:extLst>
          </p:cNvPr>
          <p:cNvSpPr>
            <a:spLocks noGrp="1"/>
          </p:cNvSpPr>
          <p:nvPr/>
        </p:nvSpPr>
        <p:spPr>
          <a:xfrm>
            <a:off x="304800" y="1104899"/>
            <a:ext cx="115475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 3 | Rural Entrepreneurship: From Local Opportunity to the Next Evidence-Based Decision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3BE4D-61DA-392C-C95A-23C873FDEEEC}"/>
              </a:ext>
            </a:extLst>
          </p:cNvPr>
          <p:cNvSpPr txBox="1"/>
          <p:nvPr/>
        </p:nvSpPr>
        <p:spPr>
          <a:xfrm>
            <a:off x="235132" y="2339007"/>
            <a:ext cx="5094514" cy="34163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rtl="0"/>
            <a:r>
              <a:rPr lang="en-US" b="1" dirty="0"/>
              <a:t>What We're Solving:</a:t>
            </a:r>
            <a:endParaRPr lang="en-US" dirty="0"/>
          </a:p>
          <a:p>
            <a:pPr rtl="0"/>
            <a:r>
              <a:rPr lang="en-US" dirty="0"/>
              <a:t>Rural women have real skills and products — but no reliable way to know if an idea is actually profitable before investing savings</a:t>
            </a:r>
            <a:br>
              <a:rPr lang="en-US" dirty="0"/>
            </a:br>
            <a:endParaRPr lang="en-US" dirty="0"/>
          </a:p>
          <a:p>
            <a:pPr rtl="0"/>
            <a:r>
              <a:rPr lang="en-US" b="1" dirty="0"/>
              <a:t>Generic business plans don't answer: </a:t>
            </a:r>
            <a:r>
              <a:rPr lang="en-US" b="1" i="1" dirty="0"/>
              <a:t>Will customers pay? What's the real margin? Should she proceed or pause?</a:t>
            </a:r>
            <a:endParaRPr lang="en-US" b="1" dirty="0"/>
          </a:p>
          <a:p>
            <a:pPr rtl="0"/>
            <a:r>
              <a:rPr lang="en-US" b="1" dirty="0"/>
              <a:t>Nirnay</a:t>
            </a:r>
            <a:r>
              <a:rPr lang="en-US" dirty="0"/>
              <a:t> turns her raw idea into one clear, evidence-based next decision — Proceed, Pilot, Modify, Collaborate, Test Further, or Pause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F2C2B-39F9-378D-49E5-72CAB68ED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736" y="1924594"/>
            <a:ext cx="6419427" cy="427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5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A297-4B49-E15A-DC93-871E3A835834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71200" lnSpcReduction="20000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User and Problem Definition — Maximum 100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4E1B-C22D-9EC0-A3BB-FAD326DB70F3}"/>
              </a:ext>
            </a:extLst>
          </p:cNvPr>
          <p:cNvSpPr txBox="1"/>
          <p:nvPr/>
        </p:nvSpPr>
        <p:spPr>
          <a:xfrm>
            <a:off x="4557948" y="1191288"/>
            <a:ext cx="2916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dirty="0"/>
              <a:t>The Real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A119A-9B14-2031-895D-C0264C9A912F}"/>
              </a:ext>
            </a:extLst>
          </p:cNvPr>
          <p:cNvSpPr txBox="1"/>
          <p:nvPr/>
        </p:nvSpPr>
        <p:spPr>
          <a:xfrm>
            <a:off x="585651" y="2116910"/>
            <a:ext cx="531876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Who experiences it:</a:t>
            </a:r>
            <a:br>
              <a:rPr lang="en-US" dirty="0"/>
            </a:br>
            <a:r>
              <a:rPr lang="en-US" dirty="0"/>
              <a:t>Radha — and thousands of rural women like her, who have a genuine skill and product but no way to know if it can become a real business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38824-ABB3-EB0D-C539-51930B1B26E6}"/>
              </a:ext>
            </a:extLst>
          </p:cNvPr>
          <p:cNvSpPr txBox="1"/>
          <p:nvPr/>
        </p:nvSpPr>
        <p:spPr>
          <a:xfrm>
            <a:off x="585651" y="3939515"/>
            <a:ext cx="5597435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/>
              <a:t>What currently happens:</a:t>
            </a: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She makes and sells a good product, but only within arm's reach — her village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Every time she thinks about expanding, she's stuck guessing: </a:t>
            </a:r>
            <a:r>
              <a:rPr lang="en-US" i="1" dirty="0"/>
              <a:t>Will it sell? Will it be profitable? Is it even worth trying?</a:t>
            </a: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With no reliable way to test this, she either </a:t>
            </a:r>
            <a:r>
              <a:rPr lang="en-US" b="1" dirty="0"/>
              <a:t>stays small out of fear</a:t>
            </a:r>
            <a:r>
              <a:rPr lang="en-US" dirty="0"/>
              <a:t>, or </a:t>
            </a:r>
            <a:r>
              <a:rPr lang="en-US" b="1" dirty="0"/>
              <a:t>expands blindly and risks her savings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A23A7-FC1A-C5AA-EF8C-8797B483C350}"/>
              </a:ext>
            </a:extLst>
          </p:cNvPr>
          <p:cNvSpPr txBox="1"/>
          <p:nvPr/>
        </p:nvSpPr>
        <p:spPr>
          <a:xfrm>
            <a:off x="6472646" y="2116909"/>
            <a:ext cx="513370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The gap:</a:t>
            </a:r>
            <a:br>
              <a:rPr lang="en-US" dirty="0"/>
            </a:br>
            <a:r>
              <a:rPr lang="en-US" dirty="0"/>
              <a:t>Generic business advice tells her to "make a plan" — but never tells her whether </a:t>
            </a:r>
            <a:r>
              <a:rPr lang="en-US" i="1" dirty="0"/>
              <a:t>this specific idea, at this specific price, in this specific location</a:t>
            </a:r>
            <a:r>
              <a:rPr lang="en-US" dirty="0"/>
              <a:t> will actually work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CE7AB-3ED3-ABEE-CE10-1B220A4A9A70}"/>
              </a:ext>
            </a:extLst>
          </p:cNvPr>
          <p:cNvSpPr txBox="1"/>
          <p:nvPr/>
        </p:nvSpPr>
        <p:spPr>
          <a:xfrm>
            <a:off x="6507480" y="4382310"/>
            <a:ext cx="5116286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Success looks like:</a:t>
            </a:r>
            <a:br>
              <a:rPr lang="en-US" dirty="0"/>
            </a:br>
            <a:r>
              <a:rPr lang="en-US" dirty="0"/>
              <a:t>Radha moves from </a:t>
            </a:r>
            <a:r>
              <a:rPr lang="en-US" i="1" dirty="0"/>
              <a:t>"I can make this, but I don't know if it'll work"</a:t>
            </a:r>
            <a:r>
              <a:rPr lang="en-US" dirty="0"/>
              <a:t> → to </a:t>
            </a:r>
            <a:r>
              <a:rPr lang="en-US" i="1" dirty="0"/>
              <a:t>"I know exactly what to test, what it will cost, and what to do next"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12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86C7-194A-CA42-0413-CB9E37E57736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85429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Proposed Solution — Maximum 200 Words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DB75B-6C0D-675E-6C64-34AF1604E3C3}"/>
              </a:ext>
            </a:extLst>
          </p:cNvPr>
          <p:cNvSpPr>
            <a:spLocks noGrp="1"/>
          </p:cNvSpPr>
          <p:nvPr/>
        </p:nvSpPr>
        <p:spPr>
          <a:xfrm>
            <a:off x="304800" y="1038612"/>
            <a:ext cx="1158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How Nirnay Works</a:t>
            </a:r>
            <a:endParaRPr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F8F94-63FB-BDB3-D0E4-D4E2CB9AAEBC}"/>
              </a:ext>
            </a:extLst>
          </p:cNvPr>
          <p:cNvSpPr txBox="1"/>
          <p:nvPr/>
        </p:nvSpPr>
        <p:spPr>
          <a:xfrm>
            <a:off x="167823" y="1558715"/>
            <a:ext cx="6100354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Solution Overview:</a:t>
            </a:r>
            <a:br>
              <a:rPr lang="en-US" dirty="0"/>
            </a:br>
            <a:r>
              <a:rPr lang="en-US" dirty="0"/>
              <a:t>Nirnay is a team of specialist AI advisors, built entirely in </a:t>
            </a:r>
            <a:r>
              <a:rPr lang="en-US" dirty="0" err="1"/>
              <a:t>PartyRock</a:t>
            </a:r>
            <a:r>
              <a:rPr lang="en-US" dirty="0"/>
              <a:t>, that takes a rural woman entrepreneur's raw business idea and turns it into one clear, evidence-based decision.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A4324-1057-4237-3D8C-5F88D4EE4C32}"/>
              </a:ext>
            </a:extLst>
          </p:cNvPr>
          <p:cNvSpPr txBox="1"/>
          <p:nvPr/>
        </p:nvSpPr>
        <p:spPr>
          <a:xfrm>
            <a:off x="167823" y="3094481"/>
            <a:ext cx="5928177" cy="2308324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/>
              <a:t>What's Distinctive:</a:t>
            </a: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Not one chatbot — 11 specialist agents working together like a real advisory panel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Every number is calculated transparently, never guessed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The system actively challenges her, instead of just agreeing with her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Multilingual — including her own regional language, not just English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C266C3-152C-2CED-6416-0336D97CA638}"/>
              </a:ext>
            </a:extLst>
          </p:cNvPr>
          <p:cNvSpPr txBox="1"/>
          <p:nvPr/>
        </p:nvSpPr>
        <p:spPr>
          <a:xfrm>
            <a:off x="167823" y="5469771"/>
            <a:ext cx="5928177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GenAI Capability Used:</a:t>
            </a:r>
            <a:br>
              <a:rPr lang="en-US" dirty="0"/>
            </a:br>
            <a:r>
              <a:rPr lang="en-US" dirty="0"/>
              <a:t>Built on Claude (via Amazon Bedrock/</a:t>
            </a:r>
            <a:r>
              <a:rPr lang="en-US" dirty="0" err="1"/>
              <a:t>PartyRock</a:t>
            </a:r>
            <a:r>
              <a:rPr lang="en-US" dirty="0"/>
              <a:t>), using chained AI agents that reference each other's outputs to reason step-by-step toward a final decision.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1C4A9-532F-0292-7BC9-BBB658E39DEE}"/>
              </a:ext>
            </a:extLst>
          </p:cNvPr>
          <p:cNvSpPr txBox="1"/>
          <p:nvPr/>
        </p:nvSpPr>
        <p:spPr>
          <a:xfrm>
            <a:off x="6268177" y="5725008"/>
            <a:ext cx="5529943" cy="923330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Try it live: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https://partyrock.aws/u/Kuromi05/SgVDia2mn/Nirnay%253A-Rural-Women-Entrepreneur-Decision-Guide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10C24B-2639-AE75-8F45-59644AF28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8715"/>
            <a:ext cx="6000206" cy="400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4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GenAI Workflow or System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3EC51-8696-10C0-8C70-246052F4D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34" y="1062446"/>
            <a:ext cx="10297732" cy="579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607EA-1EC4-A5CF-1A88-3559B136BE90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66470" lnSpcReduction="20000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Mandatory Progress Evidence — 10:00 AM and 12:00 PM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DF34D-E1C4-9002-1C4F-AEEBBB200058}"/>
              </a:ext>
            </a:extLst>
          </p:cNvPr>
          <p:cNvSpPr>
            <a:spLocks noGrp="1"/>
          </p:cNvSpPr>
          <p:nvPr/>
        </p:nvSpPr>
        <p:spPr>
          <a:xfrm>
            <a:off x="243840" y="869769"/>
            <a:ext cx="1158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• </a:t>
            </a:r>
            <a:r>
              <a:rPr b="1" dirty="0"/>
              <a:t>10:00 AM: </a:t>
            </a:r>
            <a:r>
              <a:rPr dirty="0"/>
              <a:t>early build —</a:t>
            </a:r>
            <a:r>
              <a:rPr lang="en-US" dirty="0"/>
              <a:t> </a:t>
            </a:r>
            <a:r>
              <a:rPr lang="en-US" dirty="0" err="1"/>
              <a:t>PartyRock</a:t>
            </a:r>
            <a:r>
              <a:rPr lang="en-US" dirty="0"/>
              <a:t> was unavailable during the initial checkpoint due to a platform crash; therefore, no valid uncropped solution screenshot could be captured.</a:t>
            </a:r>
          </a:p>
          <a:p>
            <a:r>
              <a:rPr lang="en-US" dirty="0"/>
              <a:t>• </a:t>
            </a:r>
            <a:r>
              <a:rPr lang="en-US" b="1" dirty="0"/>
              <a:t>12:01 PM: </a:t>
            </a:r>
            <a:r>
              <a:rPr lang="en-US" dirty="0"/>
              <a:t>developed build — Core advisory workflow working: Business Analyst and Market Researcher generating business-specific insights.</a:t>
            </a:r>
          </a:p>
          <a:p>
            <a:r>
              <a:rPr lang="en-US" dirty="0"/>
              <a:t>• </a:t>
            </a:r>
            <a:r>
              <a:rPr lang="en-US" b="1" dirty="0"/>
              <a:t>12:43 PM: </a:t>
            </a:r>
            <a:r>
              <a:rPr lang="en-US" dirty="0"/>
              <a:t>developed build — Expanded prototype with refined outputs, multilingual marketing support, WhatsApp-ready messaging, and AI-generated product visuals.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D8CAB-E763-4B4B-546D-8A72F83F1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0" t="10201" r="366" b="-780"/>
          <a:stretch>
            <a:fillRect/>
          </a:stretch>
        </p:blipFill>
        <p:spPr>
          <a:xfrm>
            <a:off x="148046" y="3077722"/>
            <a:ext cx="5509700" cy="32581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940261-6FE1-B4E5-3792-D1B128D1D1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46" t="1513"/>
          <a:stretch>
            <a:fillRect/>
          </a:stretch>
        </p:blipFill>
        <p:spPr>
          <a:xfrm>
            <a:off x="5886993" y="3013166"/>
            <a:ext cx="5939247" cy="343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8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AI Tools and Prompts Used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03671B-A801-F942-26F5-06945BA7C01B}"/>
              </a:ext>
            </a:extLst>
          </p:cNvPr>
          <p:cNvSpPr>
            <a:spLocks noGrp="1"/>
          </p:cNvSpPr>
          <p:nvPr/>
        </p:nvSpPr>
        <p:spPr>
          <a:xfrm>
            <a:off x="304800" y="11049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Prompting NIRNAY to Think, Not Just Respond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41EF2-6EA8-BE9C-1D18-50CD83CBBEC4}"/>
              </a:ext>
            </a:extLst>
          </p:cNvPr>
          <p:cNvSpPr txBox="1"/>
          <p:nvPr/>
        </p:nvSpPr>
        <p:spPr>
          <a:xfrm>
            <a:off x="185056" y="1569946"/>
            <a:ext cx="11582399" cy="92333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AI Platform : Amazon </a:t>
            </a:r>
            <a:r>
              <a:rPr lang="en-US" b="1" dirty="0" err="1"/>
              <a:t>PartyRock</a:t>
            </a:r>
            <a:br>
              <a:rPr lang="en-US" dirty="0"/>
            </a:br>
            <a:r>
              <a:rPr lang="en-US" dirty="0"/>
              <a:t>Used to build and orchestrate NIRNAY's GenAI workflow through specialized prompts and connected components.</a:t>
            </a:r>
          </a:p>
          <a:p>
            <a:r>
              <a:rPr lang="en-US" b="1" dirty="0"/>
              <a:t>GenAI Model:</a:t>
            </a:r>
            <a:r>
              <a:rPr lang="en-US" dirty="0"/>
              <a:t> </a:t>
            </a:r>
            <a:r>
              <a:rPr lang="sv-SE" dirty="0"/>
              <a:t>Anthropic Claude 4.6 Sonnet </a:t>
            </a:r>
            <a:r>
              <a:rPr lang="en-US" dirty="0"/>
              <a:t>                 </a:t>
            </a:r>
            <a:r>
              <a:rPr lang="en-IN" b="1" dirty="0"/>
              <a:t>IMAGE MODEL : </a:t>
            </a:r>
            <a:r>
              <a:rPr lang="en-IN" dirty="0"/>
              <a:t>Stability AI Stable Image Core v1.1</a:t>
            </a:r>
            <a:endParaRPr lang="sv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27045-F817-1691-A929-786660308ED9}"/>
              </a:ext>
            </a:extLst>
          </p:cNvPr>
          <p:cNvSpPr txBox="1"/>
          <p:nvPr/>
        </p:nvSpPr>
        <p:spPr>
          <a:xfrm>
            <a:off x="185056" y="2678020"/>
            <a:ext cx="6100354" cy="3970318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Prompts</a:t>
            </a:r>
          </a:p>
          <a:p>
            <a:pPr>
              <a:buNone/>
            </a:pPr>
            <a:r>
              <a:rPr lang="en-US" b="1" dirty="0"/>
              <a:t>01 — Business Analysis</a:t>
            </a:r>
            <a:endParaRPr lang="en-US" dirty="0"/>
          </a:p>
          <a:p>
            <a:pPr>
              <a:buNone/>
            </a:pPr>
            <a:r>
              <a:rPr lang="en-US" i="1" dirty="0"/>
              <a:t>“Convert the entrepreneur's skills, resources and initial idea into one clearly defined business opportunity. Separate facts provided by the entrepreneur from assumptions.”</a:t>
            </a:r>
            <a:endParaRPr lang="en-US" dirty="0"/>
          </a:p>
          <a:p>
            <a:pPr>
              <a:buNone/>
            </a:pPr>
            <a:r>
              <a:rPr lang="en-US" b="1" dirty="0"/>
              <a:t>02 — Evidence &amp; Decision</a:t>
            </a:r>
            <a:endParaRPr lang="en-US" dirty="0"/>
          </a:p>
          <a:p>
            <a:pPr>
              <a:buNone/>
            </a:pPr>
            <a:r>
              <a:rPr lang="en-US" i="1" dirty="0"/>
              <a:t>“Evaluate demand, unit economics, sales channels and risks. Clearly distinguish verified information, assumptions, calculations and missing evidence before recommending one next decision.”</a:t>
            </a:r>
            <a:endParaRPr lang="en-US" dirty="0"/>
          </a:p>
          <a:p>
            <a:pPr>
              <a:buNone/>
            </a:pPr>
            <a:r>
              <a:rPr lang="en-US" b="1" dirty="0"/>
              <a:t>03 — Second Opinion</a:t>
            </a:r>
            <a:endParaRPr lang="en-US" dirty="0"/>
          </a:p>
          <a:p>
            <a:pPr>
              <a:buNone/>
            </a:pPr>
            <a:r>
              <a:rPr lang="en-US" i="1" dirty="0"/>
              <a:t>“Challenge the weakest assumption in this business case. Identify what could make the recommendation fail and specify the smallest practical test that would validate it.”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98C4E-2871-860E-2D0B-949459BA5195}"/>
              </a:ext>
            </a:extLst>
          </p:cNvPr>
          <p:cNvSpPr txBox="1"/>
          <p:nvPr/>
        </p:nvSpPr>
        <p:spPr>
          <a:xfrm>
            <a:off x="6355079" y="2955019"/>
            <a:ext cx="5532121" cy="3693319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Prompt Refinement</a:t>
            </a:r>
          </a:p>
          <a:p>
            <a:pPr>
              <a:buNone/>
            </a:pPr>
            <a:r>
              <a:rPr lang="en-US" b="1" dirty="0"/>
              <a:t>Version 1 — Broad Guidance</a:t>
            </a:r>
            <a:br>
              <a:rPr lang="en-US" dirty="0"/>
            </a:br>
            <a:r>
              <a:rPr lang="en-US" dirty="0"/>
              <a:t>→ Produced generic business suggestions without clearly distinguishing </a:t>
            </a:r>
            <a:r>
              <a:rPr lang="en-US" b="1" dirty="0"/>
              <a:t>facts, assumptions, and unknowns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Version 2 — Structured Reasoning</a:t>
            </a:r>
            <a:br>
              <a:rPr lang="en-US" dirty="0"/>
            </a:br>
            <a:r>
              <a:rPr lang="en-US" dirty="0"/>
              <a:t>→ Added explicit instructions to </a:t>
            </a:r>
            <a:r>
              <a:rPr lang="en-US" b="1" dirty="0"/>
              <a:t>separate evidence from assumptions, show calculations, identify missing information, and justify the recommendation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Final Result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More transparent, grounded, and decision-focused outputs</a:t>
            </a:r>
            <a:r>
              <a:rPr lang="en-US" dirty="0"/>
              <a:t> that tell the entrepreneur </a:t>
            </a:r>
            <a:r>
              <a:rPr lang="en-US" i="1" dirty="0"/>
              <a:t>what is known, what still needs testing, and why a particular next step is recommended.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Testing Performed and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A74871-05BC-20DD-47E6-FC2F9E281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87677"/>
              </p:ext>
            </p:extLst>
          </p:nvPr>
        </p:nvGraphicFramePr>
        <p:xfrm>
          <a:off x="213649" y="957792"/>
          <a:ext cx="11873847" cy="590020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43856">
                  <a:extLst>
                    <a:ext uri="{9D8B030D-6E8A-4147-A177-3AD203B41FA5}">
                      <a16:colId xmlns:a16="http://schemas.microsoft.com/office/drawing/2014/main" val="3435471652"/>
                    </a:ext>
                  </a:extLst>
                </a:gridCol>
                <a:gridCol w="2363105">
                  <a:extLst>
                    <a:ext uri="{9D8B030D-6E8A-4147-A177-3AD203B41FA5}">
                      <a16:colId xmlns:a16="http://schemas.microsoft.com/office/drawing/2014/main" val="2605833779"/>
                    </a:ext>
                  </a:extLst>
                </a:gridCol>
                <a:gridCol w="3161218">
                  <a:extLst>
                    <a:ext uri="{9D8B030D-6E8A-4147-A177-3AD203B41FA5}">
                      <a16:colId xmlns:a16="http://schemas.microsoft.com/office/drawing/2014/main" val="4189083744"/>
                    </a:ext>
                  </a:extLst>
                </a:gridCol>
                <a:gridCol w="3355841">
                  <a:extLst>
                    <a:ext uri="{9D8B030D-6E8A-4147-A177-3AD203B41FA5}">
                      <a16:colId xmlns:a16="http://schemas.microsoft.com/office/drawing/2014/main" val="3931682067"/>
                    </a:ext>
                  </a:extLst>
                </a:gridCol>
                <a:gridCol w="1349827">
                  <a:extLst>
                    <a:ext uri="{9D8B030D-6E8A-4147-A177-3AD203B41FA5}">
                      <a16:colId xmlns:a16="http://schemas.microsoft.com/office/drawing/2014/main" val="1647692669"/>
                    </a:ext>
                  </a:extLst>
                </a:gridCol>
              </a:tblGrid>
              <a:tr h="333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Scenario &amp;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Expected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Actual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004664"/>
                  </a:ext>
                </a:extLst>
              </a:tr>
              <a:tr h="1785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01 — Standard Case</a:t>
                      </a:r>
                    </a:p>
                    <a:p>
                      <a:pPr>
                        <a:buNone/>
                      </a:pPr>
                      <a:r>
                        <a:rPr lang="en-IN" sz="1600" b="1" dirty="0">
                          <a:hlinkClick r:id="rId3"/>
                        </a:rPr>
                        <a:t>[Snapshot link]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Radha:</a:t>
                      </a:r>
                      <a:r>
                        <a:rPr lang="en-IN" sz="1600" dirty="0"/>
                        <a:t> Homemade pickles, rural Maharashtra. ₹55 raw material + ₹25 labour + ₹22 packaging + ₹12 transport. ₹200 selling price, 20% commission, 100 units/month.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Correct unit economics; channel comparison; relevant risks; recommendation based on both </a:t>
                      </a:r>
                      <a:r>
                        <a:rPr lang="en-US" sz="1600" b="1" dirty="0"/>
                        <a:t>profitability and untested demand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🟢 </a:t>
                      </a:r>
                      <a:r>
                        <a:rPr lang="en-IN" sz="1600" b="1" dirty="0"/>
                        <a:t>PASS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918414"/>
                  </a:ext>
                </a:extLst>
              </a:tr>
              <a:tr h="144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02 — Language &amp; Accessibility</a:t>
                      </a:r>
                    </a:p>
                    <a:p>
                      <a:pPr>
                        <a:buNone/>
                      </a:pPr>
                      <a:r>
                        <a:rPr lang="en-IN" sz="1600" b="1" dirty="0">
                          <a:hlinkClick r:id="rId4"/>
                        </a:rPr>
                        <a:t>[Snapshot link]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Same business profile with </a:t>
                      </a:r>
                      <a:r>
                        <a:rPr lang="en-US" sz="1600" b="1" dirty="0"/>
                        <a:t>Marathi</a:t>
                      </a:r>
                      <a:r>
                        <a:rPr lang="en-US" sz="1600" dirty="0"/>
                        <a:t> selected.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Business analysis, calculations, recommendations and Decision Card remain </a:t>
                      </a:r>
                      <a:r>
                        <a:rPr lang="en-US" sz="1600" b="1" dirty="0"/>
                        <a:t>clear and usable in Marathi</a:t>
                      </a:r>
                      <a:r>
                        <a:rPr lang="en-US" sz="1600" dirty="0"/>
                        <a:t>, without losing numerical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🟢 </a:t>
                      </a:r>
                      <a:r>
                        <a:rPr lang="en-IN" sz="1600" b="1" dirty="0"/>
                        <a:t>PASS 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501741"/>
                  </a:ext>
                </a:extLst>
              </a:tr>
              <a:tr h="2052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03 — Difficult Case</a:t>
                      </a:r>
                    </a:p>
                    <a:p>
                      <a:pPr>
                        <a:buNone/>
                      </a:pPr>
                      <a:r>
                        <a:rPr lang="en-IN" sz="1600" b="1" dirty="0">
                          <a:hlinkClick r:id="rId4"/>
                        </a:rPr>
                        <a:t>[Snapshot Link 1]</a:t>
                      </a:r>
                      <a:endParaRPr lang="en-IN" sz="1600" b="1" dirty="0"/>
                    </a:p>
                    <a:p>
                      <a:pPr>
                        <a:buNone/>
                      </a:pPr>
                      <a:r>
                        <a:rPr lang="en-IN" sz="1600" b="1" dirty="0">
                          <a:hlinkClick r:id="rId5"/>
                        </a:rPr>
                        <a:t>[Snapshot Link 2]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New entrepreneur provides </a:t>
                      </a:r>
                      <a:r>
                        <a:rPr lang="en-US" sz="1600" b="1"/>
                        <a:t>incomplete information</a:t>
                      </a:r>
                      <a:r>
                        <a:rPr lang="en-US" sz="1600"/>
                        <a:t> and has a product whose estimated selling price is </a:t>
                      </a:r>
                      <a:r>
                        <a:rPr lang="en-US" sz="1600" b="1"/>
                        <a:t>below total cost</a:t>
                      </a:r>
                      <a:r>
                        <a:rPr lang="en-US" sz="16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NIRNAY should </a:t>
                      </a:r>
                      <a:r>
                        <a:rPr lang="en-US" sz="1600" b="1"/>
                        <a:t>not invent missing facts</a:t>
                      </a:r>
                      <a:r>
                        <a:rPr lang="en-US" sz="1600"/>
                        <a:t>; it should expose uncertainty, show the negative margin and recommend validation/adjustment rather than blindly approving the idea.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🟡</a:t>
                      </a:r>
                      <a:r>
                        <a:rPr lang="en-IN" sz="1600" b="1" dirty="0"/>
                        <a:t>ITERATED</a:t>
                      </a:r>
                    </a:p>
                    <a:p>
                      <a:pPr>
                        <a:buNone/>
                      </a:pPr>
                      <a:r>
                        <a:rPr lang="en-IN" sz="1600" b="1" dirty="0"/>
                        <a:t>(needed prompt refinement to explicitly flag missing data)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85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605A673-81AE-D347-0DD8-4A1337968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026" y="1478621"/>
            <a:ext cx="2770176" cy="1531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32CD3-1FEF-4062-747E-9F0097603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9026" y="3199019"/>
            <a:ext cx="2778677" cy="15250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AD580-7BC9-E906-2C0F-929F38A1CA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525" y="4912608"/>
            <a:ext cx="2778677" cy="153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Responsible AI Considerations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A4D55E-228D-8768-4838-12B95E3E7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536425"/>
              </p:ext>
            </p:extLst>
          </p:nvPr>
        </p:nvGraphicFramePr>
        <p:xfrm>
          <a:off x="870923" y="1355361"/>
          <a:ext cx="10354426" cy="5253471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5177213">
                  <a:extLst>
                    <a:ext uri="{9D8B030D-6E8A-4147-A177-3AD203B41FA5}">
                      <a16:colId xmlns:a16="http://schemas.microsoft.com/office/drawing/2014/main" val="995230081"/>
                    </a:ext>
                  </a:extLst>
                </a:gridCol>
                <a:gridCol w="5177213">
                  <a:extLst>
                    <a:ext uri="{9D8B030D-6E8A-4147-A177-3AD203B41FA5}">
                      <a16:colId xmlns:a16="http://schemas.microsoft.com/office/drawing/2014/main" val="1714814262"/>
                    </a:ext>
                  </a:extLst>
                </a:gridCol>
              </a:tblGrid>
              <a:tr h="342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Risk</a:t>
                      </a:r>
                      <a:endParaRPr lang="en-IN" sz="20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NIRNAY Safeguard</a:t>
                      </a:r>
                      <a:endParaRPr lang="en-IN" sz="20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3935"/>
                  </a:ext>
                </a:extLst>
              </a:tr>
              <a:tr h="59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Privacy &amp; consent</a:t>
                      </a:r>
                      <a:r>
                        <a:rPr lang="en-US" sz="1600" dirty="0"/>
                        <a:t> — Business details may include personal or financial information.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Collect only information needed for analysis; avoid requesting unnecessary personal data.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137023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Bias / exclusion</a:t>
                      </a:r>
                      <a:r>
                        <a:rPr lang="en-IN" sz="1600" dirty="0"/>
                        <a:t> — Recommendations may favour digitally accessible or urban sales channels.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Compare channels against the entrepreneur's </a:t>
                      </a:r>
                      <a:r>
                        <a:rPr lang="en-US" sz="1600" b="1"/>
                        <a:t>location, language, digital access, resources and constraints</a:t>
                      </a:r>
                      <a:r>
                        <a:rPr lang="en-US" sz="1600"/>
                        <a:t> rather than assuming one channel fits all.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14062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Inaccurate outputs</a:t>
                      </a:r>
                      <a:r>
                        <a:rPr lang="en-US" sz="1600" dirty="0"/>
                        <a:t> — AI may invent market data, schemes or financial assumptions.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Clearly separate </a:t>
                      </a:r>
                      <a:r>
                        <a:rPr lang="en-US" sz="1600" b="1"/>
                        <a:t>user-provided facts, assumptions and verified information</a:t>
                      </a:r>
                      <a:r>
                        <a:rPr lang="en-US" sz="1600"/>
                        <a:t>; never fabricate missing data; flag uncertainty.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794097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Financial harm</a:t>
                      </a:r>
                      <a:r>
                        <a:rPr lang="en-US" sz="1600"/>
                        <a:t> — An overly optimistic recommendation could cause the entrepreneur to invest savings unnecessarily.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Show </a:t>
                      </a:r>
                      <a:r>
                        <a:rPr lang="en-US" sz="1600" b="1" dirty="0"/>
                        <a:t>line-by-line costs, margins, break-even limitations and missing evidence</a:t>
                      </a:r>
                      <a:r>
                        <a:rPr lang="en-US" sz="1600" dirty="0"/>
                        <a:t> before recommending expansion.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98172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Security / misuse</a:t>
                      </a:r>
                      <a:r>
                        <a:rPr lang="en-US" sz="1600"/>
                        <a:t> — Outputs could be manipulated or misleadingly presented as verified advice.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 credentials or sensitive data; distinguish AI-generated analysis from verified sources and avoid unsupported claims.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589062"/>
                  </a:ext>
                </a:extLst>
              </a:tr>
              <a:tr h="855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Lack of human oversight</a:t>
                      </a:r>
                      <a:r>
                        <a:rPr lang="en-US" sz="1600"/>
                        <a:t> — AI should not make the final business decision for her.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NIRNAY recommends; the entrepreneur decides.</a:t>
                      </a:r>
                      <a:r>
                        <a:rPr lang="en-US" sz="1600" dirty="0"/>
                        <a:t> The Second Opinion challenges the weakest assumption before the final Decision Card.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4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8FEB-A059-25E2-D6D4-8D34576F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8133-7323-F0EE-D97E-DE3BE4720BA3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5832556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Impact, Feasibility and Sustainability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719CF1-6C39-85F9-E1C9-80EAA6D14469}"/>
              </a:ext>
            </a:extLst>
          </p:cNvPr>
          <p:cNvSpPr>
            <a:spLocks noGrp="1"/>
          </p:cNvSpPr>
          <p:nvPr/>
        </p:nvSpPr>
        <p:spPr>
          <a:xfrm>
            <a:off x="211183" y="1135625"/>
            <a:ext cx="5913120" cy="1754326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US" b="1" dirty="0"/>
              <a:t>1. BUSINESS &amp; SOCIAL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</a:t>
            </a:r>
            <a:r>
              <a:rPr lang="en-US" b="1" dirty="0"/>
              <a:t>premature investment risk</a:t>
            </a:r>
            <a:r>
              <a:rPr lang="en-US" dirty="0"/>
              <a:t> through evidence-led validation.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entrepreneurs understand </a:t>
            </a:r>
            <a:r>
              <a:rPr lang="en-US" b="1" dirty="0"/>
              <a:t>costs, demand, margins and risks</a:t>
            </a:r>
            <a:r>
              <a:rPr lang="en-US" dirty="0"/>
              <a:t> before expanding.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a business idea into a </a:t>
            </a:r>
            <a:r>
              <a:rPr lang="en-US" b="1" dirty="0"/>
              <a:t>clear, actionable next decision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C2ACA-7B7B-DE37-10B3-C018F74FBA6C}"/>
              </a:ext>
            </a:extLst>
          </p:cNvPr>
          <p:cNvSpPr txBox="1"/>
          <p:nvPr/>
        </p:nvSpPr>
        <p:spPr>
          <a:xfrm>
            <a:off x="6217920" y="1104900"/>
            <a:ext cx="5832556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WHO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Rural women entrepreneurs </a:t>
            </a:r>
            <a:r>
              <a:rPr lang="en-IN" dirty="0"/>
              <a:t>→ Better-informed business decisions with limited financial/digital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SHGs • NGOs • Entrepreneurship programs </a:t>
            </a:r>
            <a:r>
              <a:rPr lang="en-IN" dirty="0"/>
              <a:t>→ A repeatable AI-assisted framework to support more entrepreneurs.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FD041-F7A4-FA0D-9039-E6B5973B5B52}"/>
              </a:ext>
            </a:extLst>
          </p:cNvPr>
          <p:cNvSpPr txBox="1"/>
          <p:nvPr/>
        </p:nvSpPr>
        <p:spPr>
          <a:xfrm>
            <a:off x="239486" y="3136225"/>
            <a:ext cx="5856514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3. </a:t>
            </a:r>
            <a:r>
              <a:rPr lang="en-US" b="1" dirty="0"/>
              <a:t>IMPLEMENTATION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Amazon Bedrock API + backend orchestration</a:t>
            </a:r>
            <a:r>
              <a:rPr lang="en-US" dirty="0"/>
              <a:t> for the advisor workflow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Verified local data sources</a:t>
            </a:r>
            <a:r>
              <a:rPr lang="en-US" dirty="0"/>
              <a:t> for market, schemes and opportunities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Mobile-first multilingual interface</a:t>
            </a:r>
            <a:r>
              <a:rPr lang="en-US" dirty="0"/>
              <a:t> for accessibility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Human oversight</a:t>
            </a:r>
            <a:r>
              <a:rPr lang="en-US" dirty="0"/>
              <a:t> for high-impact financial decisions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408E0-1FF0-918A-4B15-F58016FE6F75}"/>
              </a:ext>
            </a:extLst>
          </p:cNvPr>
          <p:cNvSpPr txBox="1"/>
          <p:nvPr/>
        </p:nvSpPr>
        <p:spPr>
          <a:xfrm>
            <a:off x="6217919" y="3063206"/>
            <a:ext cx="5856513" cy="2585323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IN" b="1" dirty="0"/>
              <a:t>4. COST, SCALE &amp; ADOPTION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Cloud-based, pay-per-use GenAI</a:t>
            </a:r>
            <a:r>
              <a:rPr lang="en-IN" dirty="0"/>
              <a:t> → low upfront infrastructure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Reusable AI workflow</a:t>
            </a:r>
            <a:r>
              <a:rPr lang="en-IN" dirty="0"/>
              <a:t> → same system can support many entrepreneurs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SHG / NGO partnerships</a:t>
            </a:r>
            <a:r>
              <a:rPr lang="en-IN" dirty="0"/>
              <a:t> → practical route to user onboarding and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Scale by region &amp; language</a:t>
            </a:r>
            <a:r>
              <a:rPr lang="en-IN" dirty="0"/>
              <a:t> → add verified local data rather than rebuilding the core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7F252-4480-EECE-499B-0D5AE09E2768}"/>
              </a:ext>
            </a:extLst>
          </p:cNvPr>
          <p:cNvSpPr txBox="1"/>
          <p:nvPr/>
        </p:nvSpPr>
        <p:spPr>
          <a:xfrm>
            <a:off x="117568" y="5529164"/>
            <a:ext cx="9498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CC"/>
                </a:highlight>
              </a:rPr>
              <a:t>5. BEYOND THE PROTOTYPE</a:t>
            </a:r>
          </a:p>
          <a:p>
            <a:pPr>
              <a:buNone/>
            </a:pPr>
            <a:r>
              <a:rPr lang="en-US" b="1" dirty="0">
                <a:highlight>
                  <a:srgbClr val="FFFFCC"/>
                </a:highlight>
              </a:rPr>
              <a:t>Today:</a:t>
            </a:r>
            <a:r>
              <a:rPr lang="en-US" dirty="0">
                <a:highlight>
                  <a:srgbClr val="FFFFCC"/>
                </a:highlight>
              </a:rPr>
              <a:t> 11 specialized AI advisors • 6 language options • Decision Card</a:t>
            </a:r>
            <a:br>
              <a:rPr lang="en-US" dirty="0">
                <a:highlight>
                  <a:srgbClr val="FFFFCC"/>
                </a:highlight>
              </a:rPr>
            </a:br>
            <a:r>
              <a:rPr lang="en-US" b="1" dirty="0">
                <a:highlight>
                  <a:srgbClr val="FFFFCC"/>
                </a:highlight>
              </a:rPr>
              <a:t>Next:</a:t>
            </a:r>
            <a:r>
              <a:rPr lang="en-US" dirty="0">
                <a:highlight>
                  <a:srgbClr val="FFFFCC"/>
                </a:highlight>
              </a:rPr>
              <a:t> verified local market data • stronger financial validation • NGO/SHG partnerships</a:t>
            </a:r>
            <a:br>
              <a:rPr lang="en-US" dirty="0">
                <a:highlight>
                  <a:srgbClr val="FFFFCC"/>
                </a:highlight>
              </a:rPr>
            </a:br>
            <a:r>
              <a:rPr lang="en-US" b="1" dirty="0">
                <a:highlight>
                  <a:srgbClr val="FFFFCC"/>
                </a:highlight>
              </a:rPr>
              <a:t>Long term:</a:t>
            </a:r>
            <a:r>
              <a:rPr lang="en-US" dirty="0">
                <a:highlight>
                  <a:srgbClr val="FFFFCC"/>
                </a:highlight>
              </a:rPr>
              <a:t> expand across regions, languages and rural enterprise categories. </a:t>
            </a:r>
          </a:p>
        </p:txBody>
      </p:sp>
    </p:spTree>
    <p:extLst>
      <p:ext uri="{BB962C8B-B14F-4D97-AF65-F5344CB8AC3E}">
        <p14:creationId xmlns:p14="http://schemas.microsoft.com/office/powerpoint/2010/main" val="2908749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12D9-CDF4-103F-D026-4B8EFA19157B}"/>
              </a:ext>
            </a:extLst>
          </p:cNvPr>
          <p:cNvSpPr>
            <a:spLocks noGrp="1"/>
          </p:cNvSpPr>
          <p:nvPr/>
        </p:nvSpPr>
        <p:spPr>
          <a:xfrm>
            <a:off x="3835236" y="235197"/>
            <a:ext cx="3767189" cy="519009"/>
          </a:xfrm>
          <a:prstGeom prst="rect">
            <a:avLst/>
          </a:prstGeom>
        </p:spPr>
        <p:txBody>
          <a:bodyPr vert="horz" lIns="91440" tIns="45720" rIns="91440" bIns="45720">
            <a:normAutofit fontScale="67442" lnSpcReduction="20000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How Your Submission Will Be Evaluated</a:t>
            </a:r>
          </a:p>
        </p:txBody>
      </p:sp>
      <p:graphicFrame>
        <p:nvGraphicFramePr>
          <p:cNvPr id="6" name="Table 1"/>
          <p:cNvGraphicFramePr/>
          <p:nvPr/>
        </p:nvGraphicFramePr>
        <p:xfrm>
          <a:off x="185615" y="1229621"/>
          <a:ext cx="11657622" cy="53821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8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6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CRITERION — WHAT EVALUATORS WILL LOOK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MAX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Technical implementation — working configuration, appropriate model choice, prompt quality and reliable core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Solution effectiveness — alignment to the selected challenge, usefulness to the target user and quality of the user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Innovation and creativity — distinctive approach, thoughtful use of GenAI and clear value beyond a basic chatbot wrapper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Implementation quality — completeness, testing evidence, clarity of explanation and effectiveness of the prototype demonstration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Responsible AI — privacy, bias, accuracy, security, transparency, human oversight and broader social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18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12D9-CDF4-103F-D026-4B8EFA19157B}"/>
              </a:ext>
            </a:extLst>
          </p:cNvPr>
          <p:cNvSpPr>
            <a:spLocks noGrp="1"/>
          </p:cNvSpPr>
          <p:nvPr/>
        </p:nvSpPr>
        <p:spPr>
          <a:xfrm>
            <a:off x="3835236" y="235197"/>
            <a:ext cx="3767189" cy="519009"/>
          </a:xfrm>
          <a:prstGeom prst="rect">
            <a:avLst/>
          </a:prstGeom>
        </p:spPr>
        <p:txBody>
          <a:bodyPr vert="horz" lIns="91440" tIns="45720" rIns="91440" bIns="45720">
            <a:normAutofit fontScale="85054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>
                <a:solidFill>
                  <a:srgbClr val="002060"/>
                </a:solidFill>
              </a:rPr>
              <a:t>Final Submission Checklist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90B59-D3F4-32B0-73DD-83F87AB21696}"/>
              </a:ext>
            </a:extLst>
          </p:cNvPr>
          <p:cNvSpPr>
            <a:spLocks noGrp="1"/>
          </p:cNvSpPr>
          <p:nvPr/>
        </p:nvSpPr>
        <p:spPr>
          <a:xfrm>
            <a:off x="155167" y="1125919"/>
            <a:ext cx="114770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/>
              <a:t>Before submitting, confirm that:</a:t>
            </a:r>
          </a:p>
          <a:p>
            <a:pPr marL="26" indent="-14">
              <a:buChar char="•"/>
            </a:pPr>
            <a:r>
              <a:rPr sz="1500" dirty="0"/>
              <a:t>Slides 3–11 contain your own work and all mandatory evidence.</a:t>
            </a:r>
          </a:p>
          <a:p>
            <a:pPr marL="26" indent="-14">
              <a:buChar char="•"/>
            </a:pPr>
            <a:r>
              <a:rPr sz="1500" dirty="0"/>
              <a:t>The presentation is uploaded with ‘Anyone with the link can view’ access.</a:t>
            </a:r>
          </a:p>
          <a:p>
            <a:pPr marL="26" indent="-14">
              <a:buChar char="•"/>
            </a:pPr>
            <a:r>
              <a:rPr sz="1500" dirty="0"/>
              <a:t>Both links open in an incognito/private window without requesting access.</a:t>
            </a:r>
          </a:p>
          <a:p>
            <a:pPr marL="26" indent="-14">
              <a:buChar char="•"/>
            </a:pPr>
            <a:r>
              <a:rPr sz="1500" dirty="0"/>
              <a:t>File names include your registration/roll number. Keep a local backup.</a:t>
            </a:r>
          </a:p>
          <a:p>
            <a:r>
              <a:rPr sz="1400" i="1" dirty="0"/>
              <a:t>Late, inaccessible or incomplete submissions may not be evaluated.</a:t>
            </a:r>
          </a:p>
        </p:txBody>
      </p:sp>
    </p:spTree>
    <p:extLst>
      <p:ext uri="{BB962C8B-B14F-4D97-AF65-F5344CB8AC3E}">
        <p14:creationId xmlns:p14="http://schemas.microsoft.com/office/powerpoint/2010/main" val="53412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1672</Words>
  <Application>Microsoft Office PowerPoint</Application>
  <DocSecurity>0</DocSecurity>
  <PresentationFormat>Widescreen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Sanskriti Shukla</cp:lastModifiedBy>
  <cp:revision>8</cp:revision>
  <dcterms:created xsi:type="dcterms:W3CDTF">2026-08-05T13:27:50Z</dcterms:created>
  <dcterms:modified xsi:type="dcterms:W3CDTF">2026-08-08T08:19:07Z</dcterms:modified>
</cp:coreProperties>
</file>